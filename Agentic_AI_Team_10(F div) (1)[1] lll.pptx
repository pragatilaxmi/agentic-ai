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513" r:id="rId4"/>
    <p:sldId id="525" r:id="rId6"/>
    <p:sldId id="259" r:id="rId7"/>
    <p:sldId id="535" r:id="rId8"/>
    <p:sldId id="528" r:id="rId9"/>
    <p:sldId id="536" r:id="rId10"/>
    <p:sldId id="543" r:id="rId11"/>
    <p:sldId id="530" r:id="rId12"/>
    <p:sldId id="547" r:id="rId13"/>
    <p:sldId id="527" r:id="rId14"/>
    <p:sldId id="534" r:id="rId15"/>
    <p:sldId id="540" r:id="rId16"/>
    <p:sldId id="544" r:id="rId17"/>
    <p:sldId id="545" r:id="rId18"/>
    <p:sldId id="546" r:id="rId19"/>
    <p:sldId id="537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4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EBCCEE-58A8-489C-8D84-F53BE7C2403A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DF66D-8DD6-4691-9CD8-2F02B6B1ADD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c8dea9425_2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27" name="Google Shape;127;g2fc8dea9425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c8dea9425_2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27" name="Google Shape;127;g2fc8dea9425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c8dea9425_2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3" name="Google Shape;163;g2fc8dea9425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c8dea9425_2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3" name="Google Shape;163;g2fc8dea9425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c8dea9425_2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3" name="Google Shape;163;g2fc8dea9425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c8dea9425_2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3" name="Google Shape;163;g2fc8dea9425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c8dea9425_2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3" name="Google Shape;163;g2fc8dea9425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c8dea9425_2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3" name="Google Shape;163;g2fc8dea9425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c8dea9425_2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3" name="Google Shape;163;g2fc8dea9425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c8dea9425_2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3" name="Google Shape;163;g2fc8dea9425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c8dea9425_2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3" name="Google Shape;163;g2fc8dea9425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c8dea9425_2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3" name="Google Shape;163;g2fc8dea9425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c8dea9425_2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3" name="Google Shape;163;g2fc8dea9425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c8dea9425_2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3" name="Google Shape;163;g2fc8dea9425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c8dea9425_2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3" name="Google Shape;163;g2fc8dea9425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fc8dea9425_2_1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63" name="Google Shape;163;g2fc8dea9425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fc8dea9425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460" name="Google Shape;460;g2fc8dea9425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244E0-4B9B-4A07-B0E7-A464EAE7CCF6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5651-6F7B-4CFB-B11F-780D1BB9102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206A-396B-4B95-AD29-0A0BF05FB73F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8242C-4FF3-4ECD-AFBD-B6E19BBCEF13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C109-4C17-4931-A71E-D989D9B58F50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435D5-D718-45A0-9042-3E7383A6785F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BFF2D-0FD9-43B4-9343-EEF3700D4752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65907-B73E-4653-8483-2680D2E5E7CD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A36A-4545-4C44-9AB9-DA75D10A845F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16B7-0D76-449C-8996-7D15FAD849C1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8A36D-D896-4DB8-B6B6-55063571D439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244E0-4B9B-4A07-B0E7-A464EAE7CCF6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55651-6F7B-4CFB-B11F-780D1BB9102B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A206A-396B-4B95-AD29-0A0BF05FB73F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8242C-4FF3-4ECD-AFBD-B6E19BBCEF13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59C109-4C17-4931-A71E-D989D9B58F50}" type="datetime1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435D5-D718-45A0-9042-3E7383A6785F}" type="datetime1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BFF2D-0FD9-43B4-9343-EEF3700D4752}" type="datetime1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65907-B73E-4653-8483-2680D2E5E7CD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FA36A-4545-4C44-9AB9-DA75D10A845F}" type="datetime1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16B7-0D76-449C-8996-7D15FAD849C1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8A36D-D896-4DB8-B6B6-55063571D439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4755B-E9F4-4549-90B0-6396ACBD5BC7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4755B-E9F4-4549-90B0-6396ACBD5BC7}" type="datetime1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School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sites.google.com/view/tech-stack-summary/home?authuser=0" TargetMode="Externa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ctrTitle"/>
          </p:nvPr>
        </p:nvSpPr>
        <p:spPr>
          <a:xfrm>
            <a:off x="2032000" y="2666206"/>
            <a:ext cx="8128000" cy="15255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b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300"/>
            </a:pPr>
            <a:r>
              <a:rPr lang="en-US" sz="4400" b="1" dirty="0">
                <a:solidFill>
                  <a:schemeClr val="dk1"/>
                </a:solidFill>
                <a:ea typeface="Calibri Light" panose="020F0302020204030204"/>
                <a:cs typeface="Calibri Light" panose="020F0302020204030204"/>
              </a:rPr>
              <a:t>Multi-Agent Architecture for News Authoring Agent</a:t>
            </a:r>
            <a:endParaRPr lang="en-IN" sz="4400" b="1" dirty="0">
              <a:solidFill>
                <a:schemeClr val="dk1"/>
              </a:solidFill>
              <a:latin typeface="Calibri Light" panose="020F0302020204030204"/>
              <a:ea typeface="Calibri Light" panose="020F0302020204030204"/>
              <a:cs typeface="Calibri Light" panose="020F0302020204030204"/>
            </a:endParaRPr>
          </a:p>
        </p:txBody>
      </p:sp>
      <p:pic>
        <p:nvPicPr>
          <p:cNvPr id="130" name="Google Shape;130;p25" descr="kle tech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297363" y="238126"/>
            <a:ext cx="3276600" cy="80168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43;p2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r>
              <a:rPr lang="en-GB"/>
              <a:t>School of Computer Science and Engineering</a:t>
            </a:r>
            <a:endParaRPr lang="en-GB"/>
          </a:p>
        </p:txBody>
      </p:sp>
      <p:sp>
        <p:nvSpPr>
          <p:cNvPr id="3" name="Google Shape;145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fld id="{0FD2178C-39ED-4165-8FE1-E341F78A89F7}" type="datetime1">
              <a:rPr lang="en-IN" smtClean="0"/>
            </a:fld>
            <a:endParaRPr lang="en-GB"/>
          </a:p>
        </p:txBody>
      </p:sp>
      <p:sp>
        <p:nvSpPr>
          <p:cNvPr id="4" name="Google Shape;153;p27"/>
          <p:cNvSpPr txBox="1"/>
          <p:nvPr/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900"/>
            </a:pPr>
            <a:fld id="{00000000-1234-1234-1234-123412341234}" type="slidenum"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5" descr="kle tech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297363" y="238126"/>
            <a:ext cx="3276600" cy="80168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43;p2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r>
              <a:rPr lang="en-GB"/>
              <a:t>School of Computer Science and Engineering</a:t>
            </a:r>
            <a:endParaRPr lang="en-GB"/>
          </a:p>
        </p:txBody>
      </p:sp>
      <p:sp>
        <p:nvSpPr>
          <p:cNvPr id="3" name="Google Shape;145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fld id="{0A28D35F-8973-4A9B-8465-A8BAC679ABCF}" type="datetime1">
              <a:rPr lang="en-IN" smtClean="0"/>
            </a:fld>
            <a:endParaRPr lang="en-GB"/>
          </a:p>
        </p:txBody>
      </p:sp>
      <p:sp>
        <p:nvSpPr>
          <p:cNvPr id="4" name="Google Shape;153;p27"/>
          <p:cNvSpPr txBox="1"/>
          <p:nvPr/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900"/>
            </a:pPr>
            <a:fld id="{00000000-1234-1234-1234-123412341234}" type="slidenum"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38200" y="1762218"/>
          <a:ext cx="10207137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7735"/>
                <a:gridCol w="2370485"/>
                <a:gridCol w="7138917"/>
              </a:tblGrid>
              <a:tr h="299760">
                <a:tc>
                  <a:txBody>
                    <a:bodyPr/>
                    <a:lstStyle/>
                    <a:p>
                      <a:r>
                        <a:rPr lang="en-IN" dirty="0"/>
                        <a:t>Div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  <a:endParaRPr lang="en-IN" dirty="0"/>
                    </a:p>
                  </a:txBody>
                  <a:tcPr/>
                </a:tc>
              </a:tr>
              <a:tr h="299760">
                <a:tc>
                  <a:txBody>
                    <a:bodyPr/>
                    <a:lstStyle/>
                    <a:p>
                      <a:r>
                        <a:rPr lang="en-IN" dirty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01FE22BCI007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Vignesh </a:t>
                      </a:r>
                      <a:r>
                        <a:rPr lang="en-IN" dirty="0" err="1"/>
                        <a:t>Chougule</a:t>
                      </a:r>
                      <a:endParaRPr lang="en-IN" dirty="0"/>
                    </a:p>
                  </a:txBody>
                  <a:tcPr/>
                </a:tc>
              </a:tr>
              <a:tr h="299760">
                <a:tc>
                  <a:txBody>
                    <a:bodyPr/>
                    <a:lstStyle/>
                    <a:p>
                      <a:r>
                        <a:rPr lang="en-IN" dirty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01FE22BCI016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Disha S </a:t>
                      </a:r>
                      <a:r>
                        <a:rPr lang="en-IN" dirty="0" err="1"/>
                        <a:t>Kalyanshettar</a:t>
                      </a:r>
                      <a:endParaRPr lang="en-IN" dirty="0"/>
                    </a:p>
                  </a:txBody>
                  <a:tcPr/>
                </a:tc>
              </a:tr>
              <a:tr h="299760">
                <a:tc>
                  <a:txBody>
                    <a:bodyPr/>
                    <a:lstStyle/>
                    <a:p>
                      <a:r>
                        <a:rPr lang="en-IN" dirty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01FE22BCI013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err="1"/>
                        <a:t>Pragatilaxmi</a:t>
                      </a:r>
                      <a:r>
                        <a:rPr lang="en-IN" dirty="0"/>
                        <a:t> </a:t>
                      </a:r>
                      <a:r>
                        <a:rPr lang="en-IN" dirty="0" err="1"/>
                        <a:t>Itigowni</a:t>
                      </a:r>
                      <a:endParaRPr lang="en-IN" dirty="0"/>
                    </a:p>
                  </a:txBody>
                  <a:tcPr/>
                </a:tc>
              </a:tr>
              <a:tr h="299760">
                <a:tc>
                  <a:txBody>
                    <a:bodyPr/>
                    <a:lstStyle/>
                    <a:p>
                      <a:r>
                        <a:rPr lang="en-IN" dirty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01FE22BCI023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Khushi </a:t>
                      </a:r>
                      <a:r>
                        <a:rPr lang="en-IN" dirty="0" err="1"/>
                        <a:t>Chalageri</a:t>
                      </a:r>
                      <a:endParaRPr lang="en-IN" dirty="0"/>
                    </a:p>
                  </a:txBody>
                  <a:tcPr/>
                </a:tc>
              </a:tr>
              <a:tr h="299760">
                <a:tc>
                  <a:txBody>
                    <a:bodyPr/>
                    <a:lstStyle/>
                    <a:p>
                      <a:r>
                        <a:rPr lang="en-IN" dirty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01FE22BCI002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Saakshi Lokhande</a:t>
                      </a:r>
                      <a:endParaRPr lang="en-IN" dirty="0"/>
                    </a:p>
                  </a:txBody>
                  <a:tcPr/>
                </a:tc>
              </a:tr>
              <a:tr h="2997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01FE22BCI058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dirty="0"/>
                        <a:t>Rakshita </a:t>
                      </a:r>
                      <a:r>
                        <a:rPr lang="en-IN" dirty="0" err="1"/>
                        <a:t>Belakoppa</a:t>
                      </a:r>
                      <a:endParaRPr lang="en-IN" dirty="0"/>
                    </a:p>
                  </a:txBody>
                  <a:tcPr/>
                </a:tc>
              </a:tr>
              <a:tr h="2997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01FE22BCI061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dirty="0"/>
                        <a:t>T K Vachana</a:t>
                      </a:r>
                      <a:endParaRPr lang="en-IN" dirty="0"/>
                    </a:p>
                  </a:txBody>
                  <a:tcPr/>
                </a:tc>
              </a:tr>
              <a:tr h="2997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01FE22BCI033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dirty="0"/>
                        <a:t>Aishwarya Gopal</a:t>
                      </a:r>
                      <a:endParaRPr lang="en-IN" dirty="0"/>
                    </a:p>
                  </a:txBody>
                  <a:tcPr/>
                </a:tc>
              </a:tr>
              <a:tr h="29976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F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dirty="0"/>
                        <a:t>01FE22BCI018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dirty="0"/>
                        <a:t>Apeksha </a:t>
                      </a:r>
                      <a:r>
                        <a:rPr lang="en-IN" dirty="0" err="1"/>
                        <a:t>Tangod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14800" y="1207698"/>
            <a:ext cx="34591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/>
              <a:t>Team Details</a:t>
            </a:r>
            <a:endParaRPr lang="en-IN" sz="2400" b="1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CF5C1-D4EC-4B20-BAB0-40188B987268}" type="slidenum">
              <a:rPr lang="en-IN" smtClean="0"/>
            </a:fld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377826" y="188913"/>
            <a:ext cx="6756220" cy="633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000"/>
            </a:pPr>
            <a:r>
              <a:rPr lang="en-GB" sz="4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Problem</a:t>
            </a:r>
            <a:r>
              <a:rPr lang="en-GB" sz="36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</a:t>
            </a:r>
            <a:r>
              <a:rPr lang="en-GB" sz="4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Statement</a:t>
            </a:r>
            <a:endParaRPr lang="en-GB" sz="4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898989"/>
              </a:buClr>
              <a:buSzPts val="900"/>
            </a:pPr>
            <a:r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School of Computer Science and Engineering</a:t>
            </a:r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900"/>
            </a:pPr>
            <a:fld id="{00000000-1234-1234-1234-123412341234}" type="slidenum"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8" name="Google Shape;168;p28"/>
          <p:cNvCxnSpPr/>
          <p:nvPr/>
        </p:nvCxnSpPr>
        <p:spPr>
          <a:xfrm>
            <a:off x="85726" y="884238"/>
            <a:ext cx="11993700" cy="2070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9" name="Google Shape;169;p28" descr="kle tech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104312" y="74612"/>
            <a:ext cx="2895600" cy="71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8"/>
          <p:cNvSpPr txBox="1">
            <a:spLocks noGrp="1"/>
          </p:cNvSpPr>
          <p:nvPr>
            <p:ph type="body" idx="1"/>
          </p:nvPr>
        </p:nvSpPr>
        <p:spPr>
          <a:xfrm>
            <a:off x="503238" y="1220787"/>
            <a:ext cx="11158537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Autofit/>
          </a:bodyPr>
          <a:lstStyle/>
          <a:p>
            <a:pPr marL="0" indent="0">
              <a:spcBef>
                <a:spcPts val="0"/>
              </a:spcBef>
              <a:buClr>
                <a:schemeClr val="dk1"/>
              </a:buClr>
              <a:buSzPts val="1500"/>
              <a:buNone/>
            </a:pPr>
            <a:r>
              <a:rPr lang="en-US" sz="2400" dirty="0"/>
              <a:t>The news writing process is slow and uncoordinated, involving multiple manual steps like research, fact-checking, and translation.</a:t>
            </a:r>
            <a:br>
              <a:rPr lang="en-US" sz="2400" dirty="0"/>
            </a:br>
            <a:r>
              <a:rPr lang="en-US" sz="2400" dirty="0"/>
              <a:t>Existing AI tools can’t collaborate or ensure factual accuracy.</a:t>
            </a:r>
            <a:br>
              <a:rPr lang="en-US" sz="2400" dirty="0"/>
            </a:br>
            <a:r>
              <a:rPr lang="en-US" sz="2400" dirty="0"/>
              <a:t>This project builds a multi-agent system using </a:t>
            </a:r>
            <a:r>
              <a:rPr lang="en-US" sz="2400" dirty="0" err="1"/>
              <a:t>LangChain</a:t>
            </a:r>
            <a:r>
              <a:rPr lang="en-US" sz="2400" dirty="0"/>
              <a:t> and </a:t>
            </a:r>
            <a:r>
              <a:rPr lang="en-US" sz="2400" dirty="0" err="1"/>
              <a:t>LangGraph</a:t>
            </a:r>
            <a:r>
              <a:rPr lang="en-US" sz="2400" dirty="0"/>
              <a:t> to automate and streamline news authoring efficiently.</a:t>
            </a:r>
            <a:endParaRPr lang="en-US" sz="2400" dirty="0">
              <a:ea typeface="Calibri" panose="020F0502020204030204"/>
              <a:cs typeface="Calibri" panose="020F0502020204030204"/>
            </a:endParaRPr>
          </a:p>
          <a:p>
            <a:pPr marL="0" lvl="0" indent="0" algn="just">
              <a:spcBef>
                <a:spcPts val="0"/>
              </a:spcBef>
              <a:buClr>
                <a:schemeClr val="dk1"/>
              </a:buClr>
              <a:buSzPts val="1500"/>
              <a:buNone/>
            </a:pPr>
            <a:endParaRPr lang="en-US" sz="2400" dirty="0"/>
          </a:p>
        </p:txBody>
      </p:sp>
      <p:sp>
        <p:nvSpPr>
          <p:cNvPr id="175" name="Google Shape;175;p2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r>
              <a:rPr lang="en-GB"/>
              <a:t>School of Computer Science and Engineering</a:t>
            </a:r>
            <a:endParaRPr lang="en-GB"/>
          </a:p>
        </p:txBody>
      </p:sp>
      <p:sp>
        <p:nvSpPr>
          <p:cNvPr id="176" name="Google Shape;176;p2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900"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Google Shape;145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fld id="{9A14CA57-A7D5-44FE-8080-44D403F20AF8}" type="datetime1">
              <a:rPr lang="en-IN" smtClean="0"/>
            </a:fld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377826" y="188913"/>
            <a:ext cx="6756220" cy="633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000"/>
            </a:pPr>
            <a:r>
              <a:rPr lang="en-GB" sz="4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Background and Context</a:t>
            </a:r>
            <a:endParaRPr lang="en-GB"/>
          </a:p>
        </p:txBody>
      </p:sp>
      <p:sp>
        <p:nvSpPr>
          <p:cNvPr id="166" name="Google Shape;166;p28"/>
          <p:cNvSpPr txBox="1"/>
          <p:nvPr/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898989"/>
              </a:buClr>
              <a:buSzPts val="900"/>
            </a:pPr>
            <a:r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School of Computer Science and Engineering</a:t>
            </a:r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900"/>
            </a:pPr>
            <a:fld id="{00000000-1234-1234-1234-123412341234}" type="slidenum"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8" name="Google Shape;168;p28"/>
          <p:cNvCxnSpPr/>
          <p:nvPr/>
        </p:nvCxnSpPr>
        <p:spPr>
          <a:xfrm>
            <a:off x="85726" y="884238"/>
            <a:ext cx="11993700" cy="2070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9" name="Google Shape;169;p28" descr="kle tech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104312" y="74612"/>
            <a:ext cx="2895600" cy="71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8"/>
          <p:cNvSpPr txBox="1">
            <a:spLocks noGrp="1"/>
          </p:cNvSpPr>
          <p:nvPr>
            <p:ph type="body" idx="1"/>
          </p:nvPr>
        </p:nvSpPr>
        <p:spPr>
          <a:xfrm>
            <a:off x="503238" y="1220787"/>
            <a:ext cx="11158537" cy="685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t" anchorCtr="0">
            <a:noAutofit/>
          </a:bodyPr>
          <a:lstStyle/>
          <a:p>
            <a:pPr marL="0" indent="0">
              <a:spcBef>
                <a:spcPts val="0"/>
              </a:spcBef>
              <a:buClr>
                <a:schemeClr val="dk1"/>
              </a:buClr>
              <a:buSzPts val="1500"/>
              <a:buNone/>
            </a:pPr>
            <a:r>
              <a:rPr lang="en-US" sz="2000" dirty="0"/>
              <a:t>Traditional news creation depends on multiple people working sequentially — researchers, writers, translators, and editors — making it time-consuming and error-prone.</a:t>
            </a:r>
            <a:br>
              <a:rPr lang="en-US" sz="2000" dirty="0"/>
            </a:br>
            <a:r>
              <a:rPr lang="en-US" sz="2000" dirty="0"/>
              <a:t>While AI can assist in writing, most systems work independently and lack coordination among tasks.</a:t>
            </a:r>
            <a:br>
              <a:rPr lang="en-US" sz="2000" dirty="0"/>
            </a:br>
            <a:r>
              <a:rPr lang="en-US" sz="2000" dirty="0"/>
              <a:t>By using </a:t>
            </a:r>
            <a:r>
              <a:rPr lang="en-US" sz="2000" dirty="0" err="1"/>
              <a:t>LangChain</a:t>
            </a:r>
            <a:r>
              <a:rPr lang="en-US" sz="2000" dirty="0"/>
              <a:t> and </a:t>
            </a:r>
            <a:r>
              <a:rPr lang="en-US" sz="2000" dirty="0" err="1"/>
              <a:t>LangGraph</a:t>
            </a:r>
            <a:r>
              <a:rPr lang="en-US" sz="2000" dirty="0"/>
              <a:t>, this project enables several intelligent agents to collaborate — collecting, verifying, writing, translating, and publishing news automatically — ensuring speed, accuracy, and multilingual capability.</a:t>
            </a:r>
            <a:endParaRPr lang="en-US" sz="2000" dirty="0"/>
          </a:p>
          <a:p>
            <a:pPr marL="0" indent="0">
              <a:spcBef>
                <a:spcPts val="0"/>
              </a:spcBef>
              <a:buClr>
                <a:schemeClr val="dk1"/>
              </a:buClr>
              <a:buSzPts val="1500"/>
              <a:buNone/>
            </a:pPr>
            <a:br>
              <a:rPr lang="en-US" sz="2400" dirty="0"/>
            </a:br>
            <a:r>
              <a:rPr lang="en-US" sz="2000" dirty="0"/>
              <a:t>In the era of fast digital journalism, real-time, fact-checked, and multilingual news is essential.</a:t>
            </a:r>
            <a:br>
              <a:rPr lang="en-US" sz="2000" dirty="0"/>
            </a:br>
            <a:r>
              <a:rPr lang="en-US" sz="2000" dirty="0"/>
              <a:t>Manual content production can’t keep up with the pace of online information and social media demands.</a:t>
            </a:r>
            <a:br>
              <a:rPr lang="en-US" sz="2000" dirty="0"/>
            </a:br>
            <a:r>
              <a:rPr lang="en-US" sz="2000" dirty="0"/>
              <a:t>Using multi-agent coordination allows AI systems to perform journalism-like workflows automatically, supporting AI-assisted content creation, fact verification, and publication with minimal human effort.</a:t>
            </a:r>
            <a:endParaRPr lang="en-US" sz="2000" dirty="0"/>
          </a:p>
          <a:p>
            <a:pPr marL="0" lvl="0" indent="0">
              <a:spcBef>
                <a:spcPts val="0"/>
              </a:spcBef>
              <a:buClr>
                <a:schemeClr val="dk1"/>
              </a:buClr>
              <a:buSzPts val="1500"/>
              <a:buNone/>
            </a:pPr>
            <a:endParaRPr lang="en-US" sz="2400" dirty="0"/>
          </a:p>
        </p:txBody>
      </p:sp>
      <p:sp>
        <p:nvSpPr>
          <p:cNvPr id="175" name="Google Shape;175;p2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r>
              <a:rPr lang="en-GB"/>
              <a:t>School of Computer Science and Engineering</a:t>
            </a:r>
            <a:endParaRPr lang="en-GB"/>
          </a:p>
        </p:txBody>
      </p:sp>
      <p:sp>
        <p:nvSpPr>
          <p:cNvPr id="176" name="Google Shape;176;p2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900"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Google Shape;145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fld id="{9A14CA57-A7D5-44FE-8080-44D403F20AF8}" type="datetime1">
              <a:rPr lang="en-IN" smtClean="0"/>
            </a:fld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377826" y="188913"/>
            <a:ext cx="6756220" cy="633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000"/>
            </a:pPr>
            <a:r>
              <a:rPr lang="en-GB" sz="4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Objectives</a:t>
            </a:r>
            <a:endParaRPr lang="en-GB" sz="4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898989"/>
              </a:buClr>
              <a:buSzPts val="900"/>
            </a:pPr>
            <a:r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School of Computer Science and Engineering</a:t>
            </a:r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900"/>
            </a:pPr>
            <a:fld id="{00000000-1234-1234-1234-123412341234}" type="slidenum"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8" name="Google Shape;168;p28"/>
          <p:cNvCxnSpPr/>
          <p:nvPr/>
        </p:nvCxnSpPr>
        <p:spPr>
          <a:xfrm>
            <a:off x="85726" y="884238"/>
            <a:ext cx="11993700" cy="2070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9" name="Google Shape;169;p28" descr="kle tech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104312" y="74612"/>
            <a:ext cx="2895600" cy="71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r>
              <a:rPr lang="en-GB"/>
              <a:t>School of Computer Science and Engineering</a:t>
            </a:r>
            <a:endParaRPr lang="en-GB"/>
          </a:p>
        </p:txBody>
      </p:sp>
      <p:sp>
        <p:nvSpPr>
          <p:cNvPr id="176" name="Google Shape;176;p2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900"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Google Shape;145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fld id="{BB19A38C-A9EE-42AB-950C-C422986A289C}" type="datetime1">
              <a:rPr lang="en-IN" smtClean="0"/>
            </a:fld>
            <a:endParaRPr lang="en-GB"/>
          </a:p>
        </p:txBody>
      </p:sp>
      <p:sp>
        <p:nvSpPr>
          <p:cNvPr id="5" name="Content Placeholder 2"/>
          <p:cNvSpPr txBox="1"/>
          <p:nvPr/>
        </p:nvSpPr>
        <p:spPr>
          <a:xfrm>
            <a:off x="474453" y="1233577"/>
            <a:ext cx="11187321" cy="456627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Design a multi-agent framework for automated news generation.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r>
              <a:rPr lang="en-US" sz="2000" dirty="0"/>
              <a:t>Enable coordination between agents using </a:t>
            </a:r>
            <a:r>
              <a:rPr lang="en-US" sz="2000" dirty="0" err="1"/>
              <a:t>LangGraph</a:t>
            </a:r>
            <a:r>
              <a:rPr lang="en-US" sz="2000" dirty="0"/>
              <a:t>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r>
              <a:rPr lang="en-US" sz="2000" dirty="0"/>
              <a:t>Integrate Retrieval-Augmented Generation (RAG) for fact verification.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r>
              <a:rPr lang="en-US" sz="2000" dirty="0"/>
              <a:t>Automate news authoring, translation, and publication.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r>
              <a:rPr lang="en-US" sz="2000" dirty="0"/>
              <a:t>Improve efficiency, reliability, and multilingual reach in the news creation </a:t>
            </a:r>
            <a:r>
              <a:rPr lang="en-US" sz="1800" dirty="0"/>
              <a:t>process.</a:t>
            </a:r>
            <a:endParaRPr lang="en-US" sz="1800" dirty="0"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377826" y="188913"/>
            <a:ext cx="6756220" cy="633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000"/>
            </a:pPr>
            <a:r>
              <a:rPr lang="en-GB" sz="4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Methodology</a:t>
            </a:r>
            <a:endParaRPr lang="en-GB"/>
          </a:p>
        </p:txBody>
      </p:sp>
      <p:sp>
        <p:nvSpPr>
          <p:cNvPr id="166" name="Google Shape;166;p28"/>
          <p:cNvSpPr txBox="1"/>
          <p:nvPr/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898989"/>
              </a:buClr>
              <a:buSzPts val="900"/>
            </a:pPr>
            <a:r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School of Computer Science and Engineering</a:t>
            </a:r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900"/>
            </a:pPr>
            <a:fld id="{00000000-1234-1234-1234-123412341234}" type="slidenum"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8" name="Google Shape;168;p28"/>
          <p:cNvCxnSpPr/>
          <p:nvPr/>
        </p:nvCxnSpPr>
        <p:spPr>
          <a:xfrm>
            <a:off x="85726" y="884238"/>
            <a:ext cx="11993700" cy="2070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9" name="Google Shape;169;p28" descr="kle tech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104312" y="74612"/>
            <a:ext cx="2895600" cy="71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r>
              <a:rPr lang="en-GB"/>
              <a:t>School of Computer Science and Engineering</a:t>
            </a:r>
            <a:endParaRPr lang="en-GB"/>
          </a:p>
        </p:txBody>
      </p:sp>
      <p:sp>
        <p:nvSpPr>
          <p:cNvPr id="176" name="Google Shape;176;p2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900"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Google Shape;145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fld id="{BB19A38C-A9EE-42AB-950C-C422986A289C}" type="datetime1">
              <a:rPr lang="en-IN" smtClean="0"/>
            </a:fld>
            <a:endParaRPr lang="en-GB"/>
          </a:p>
        </p:txBody>
      </p:sp>
      <p:sp>
        <p:nvSpPr>
          <p:cNvPr id="5" name="Content Placeholder 2"/>
          <p:cNvSpPr txBox="1"/>
          <p:nvPr/>
        </p:nvSpPr>
        <p:spPr>
          <a:xfrm>
            <a:off x="474453" y="1233577"/>
            <a:ext cx="11187321" cy="45662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/>
              <a:t>.</a:t>
            </a:r>
            <a:endParaRPr lang="en-US" sz="180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57231" y="1147993"/>
            <a:ext cx="9639599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Framework Used: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LangChain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 for agent creation,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LangGraph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 for coordination.</a:t>
            </a: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/>
              <a:cs typeface="Arial" panose="020B060402020202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 panose="020B060402020202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Agents Designed:</a:t>
            </a: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/>
              <a:cs typeface="Arial" panose="020B060402020202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i="0" u="sng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Web Research Agent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– Collects relevant news and documents.</a:t>
            </a: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/>
              <a:cs typeface="Arial" panose="020B060402020202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i="0" u="sng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Fact-Checking &amp; RAG Agent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– Verifies information before writing.</a:t>
            </a: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/>
              <a:cs typeface="Arial" panose="020B060402020202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i="0" u="sng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Writing Agent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– Generates well-structured news content.</a:t>
            </a: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/>
              <a:cs typeface="Arial" panose="020B060402020202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i="0" u="sng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Translation Agent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– Translates into different languages while keeping context.</a:t>
            </a: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/>
              <a:cs typeface="Arial" panose="020B060402020202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i="0" u="sng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Social Media Optimization Agent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– Suggests hashtags and short posts.</a:t>
            </a: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/>
              <a:cs typeface="Arial" panose="020B060402020202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i="0" u="sng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Publication Agent 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– Formats and prepares final drafts.</a:t>
            </a:r>
            <a:br>
              <a:rPr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  <a:cs typeface="Arial" panose="020B060402020202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Implementation Tools: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 Python,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LangChain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, Docker, Translation APIs.</a:t>
            </a: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/>
              <a:cs typeface="Arial" panose="020B0604020202020204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Process: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 User input → Agent collaboration via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LangGraph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/>
                <a:cs typeface="Arial" panose="020B0604020202020204"/>
              </a:rPr>
              <a:t> → Final article output.</a:t>
            </a:r>
            <a:endParaRPr lang="en-US" altLang="en-US" sz="2000" b="0" i="0" u="none" strike="noStrike" cap="none" normalizeH="0" baseline="0">
              <a:ln>
                <a:noFill/>
              </a:ln>
              <a:effectLst/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377826" y="188913"/>
            <a:ext cx="6756220" cy="633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000"/>
            </a:pPr>
            <a:r>
              <a:rPr lang="en-GB" sz="4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Approach</a:t>
            </a:r>
            <a:endParaRPr lang="en-GB" sz="4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898989"/>
              </a:buClr>
              <a:buSzPts val="900"/>
            </a:pPr>
            <a:r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School of Computer Science and Engineering</a:t>
            </a:r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900"/>
            </a:pPr>
            <a:fld id="{00000000-1234-1234-1234-123412341234}" type="slidenum"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8" name="Google Shape;168;p28"/>
          <p:cNvCxnSpPr/>
          <p:nvPr/>
        </p:nvCxnSpPr>
        <p:spPr>
          <a:xfrm>
            <a:off x="85726" y="884238"/>
            <a:ext cx="11993700" cy="2070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9" name="Google Shape;169;p28" descr="kle tech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104312" y="74612"/>
            <a:ext cx="2895600" cy="71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r>
              <a:rPr lang="en-GB"/>
              <a:t>School of Computer Science and Engineering</a:t>
            </a:r>
            <a:endParaRPr lang="en-GB"/>
          </a:p>
        </p:txBody>
      </p:sp>
      <p:sp>
        <p:nvSpPr>
          <p:cNvPr id="176" name="Google Shape;176;p2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900"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Google Shape;145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fld id="{1A762179-2153-47A2-8608-86A4CA860BA0}" type="datetime1">
              <a:rPr lang="en-IN" smtClean="0"/>
            </a:fld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381001" y="957650"/>
            <a:ext cx="10647405" cy="5078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r>
              <a:rPr lang="en-US" dirty="0"/>
              <a:t>The proposed system follows a </a:t>
            </a:r>
            <a:r>
              <a:rPr lang="en-US" b="1" dirty="0"/>
              <a:t>multi-agent architecture</a:t>
            </a:r>
            <a:r>
              <a:rPr lang="en-US" dirty="0"/>
              <a:t> coordinated through </a:t>
            </a:r>
            <a:r>
              <a:rPr lang="en-US" b="1" dirty="0" err="1"/>
              <a:t>LangGraph</a:t>
            </a:r>
            <a:r>
              <a:rPr lang="en-US" dirty="0"/>
              <a:t> to automate the entire news authoring process.</a:t>
            </a: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workflow starts when the user provides a topic through the dashboard.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Web Research Agent collects the latest and most relevant information from the web and RSS feeds.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Fact-Checking &amp; RAG Agent validates the gathered content using evidence stored in the </a:t>
            </a:r>
            <a:r>
              <a:rPr lang="en-US" dirty="0" err="1"/>
              <a:t>ChromaDB</a:t>
            </a:r>
            <a:r>
              <a:rPr lang="en-US" dirty="0"/>
              <a:t> Vector Database.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Next, the Writing Agent drafts a clear, factual, and coherent article using the Gemini model integrated with </a:t>
            </a:r>
            <a:r>
              <a:rPr lang="en-US" dirty="0" err="1"/>
              <a:t>LangChain</a:t>
            </a:r>
            <a:r>
              <a:rPr lang="en-US" dirty="0"/>
              <a:t>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Translation Agent (optional) converts the article into different languages while preserving meaning and context.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Social Media Optimization Agent creates short promotional posts and suggests suitable hashtags.</a:t>
            </a:r>
            <a:endParaRPr lang="en-US" dirty="0"/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377826" y="188913"/>
            <a:ext cx="6756220" cy="633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000"/>
            </a:pPr>
            <a:r>
              <a:rPr lang="en-IN" altLang="en-GB" sz="4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Work Flow</a:t>
            </a:r>
            <a:endParaRPr lang="en-IN" altLang="en-GB" sz="4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898989"/>
              </a:buClr>
              <a:buSzPts val="900"/>
            </a:pPr>
            <a:r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School of Computer Science and Engineering</a:t>
            </a:r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900"/>
            </a:pPr>
            <a:fld id="{00000000-1234-1234-1234-123412341234}" type="slidenum"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8" name="Google Shape;168;p28"/>
          <p:cNvCxnSpPr/>
          <p:nvPr/>
        </p:nvCxnSpPr>
        <p:spPr>
          <a:xfrm>
            <a:off x="85726" y="884238"/>
            <a:ext cx="11993700" cy="2070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9" name="Google Shape;169;p28" descr="kle tech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163810" y="-60325"/>
            <a:ext cx="202819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r>
              <a:rPr lang="en-GB"/>
              <a:t>School of Computer Science and Engineering</a:t>
            </a:r>
            <a:endParaRPr lang="en-GB"/>
          </a:p>
        </p:txBody>
      </p:sp>
      <p:sp>
        <p:nvSpPr>
          <p:cNvPr id="176" name="Google Shape;176;p2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900"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Google Shape;145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fld id="{1A762179-2153-47A2-8608-86A4CA860BA0}" type="datetime1">
              <a:rPr lang="en-IN" smtClean="0"/>
            </a:fld>
            <a:endParaRPr lang="en-GB"/>
          </a:p>
        </p:txBody>
      </p:sp>
      <p:pic>
        <p:nvPicPr>
          <p:cNvPr id="3" name="Picture 2" descr="l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020" y="-670560"/>
            <a:ext cx="406273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377826" y="188913"/>
            <a:ext cx="6756220" cy="633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000"/>
            </a:pPr>
            <a:r>
              <a:rPr lang="en-IN" altLang="en-GB" sz="4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Agent Interaction Flow</a:t>
            </a:r>
            <a:endParaRPr lang="en-IN" altLang="en-GB" sz="4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898989"/>
              </a:buClr>
              <a:buSzPts val="900"/>
            </a:pPr>
            <a:r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School of Computer Science and Engineering</a:t>
            </a:r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900"/>
            </a:pPr>
            <a:fld id="{00000000-1234-1234-1234-123412341234}" type="slidenum"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8" name="Google Shape;168;p28"/>
          <p:cNvCxnSpPr/>
          <p:nvPr/>
        </p:nvCxnSpPr>
        <p:spPr>
          <a:xfrm>
            <a:off x="85726" y="884238"/>
            <a:ext cx="11993700" cy="2070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9" name="Google Shape;169;p28" descr="kle tech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163810" y="-60325"/>
            <a:ext cx="202819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r>
              <a:rPr lang="en-GB"/>
              <a:t>School of Computer Science and Engineering</a:t>
            </a:r>
            <a:endParaRPr lang="en-GB"/>
          </a:p>
        </p:txBody>
      </p:sp>
      <p:sp>
        <p:nvSpPr>
          <p:cNvPr id="176" name="Google Shape;176;p2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900"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Google Shape;145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fld id="{1A762179-2153-47A2-8608-86A4CA860BA0}" type="datetime1">
              <a:rPr lang="en-IN" smtClean="0"/>
            </a:fld>
            <a:endParaRPr lang="en-GB"/>
          </a:p>
        </p:txBody>
      </p:sp>
      <p:pic>
        <p:nvPicPr>
          <p:cNvPr id="5" name="Picture 4" descr="Screenshot 2025-11-12 13180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4075" y="1203960"/>
            <a:ext cx="8110220" cy="5143500"/>
          </a:xfrm>
          <a:prstGeom prst="rect">
            <a:avLst/>
          </a:prstGeom>
        </p:spPr>
      </p:pic>
      <p:sp>
        <p:nvSpPr>
          <p:cNvPr id="6" name="Rectangles 5"/>
          <p:cNvSpPr/>
          <p:nvPr/>
        </p:nvSpPr>
        <p:spPr>
          <a:xfrm>
            <a:off x="3446780" y="3528695"/>
            <a:ext cx="751840" cy="2089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cxnSp>
        <p:nvCxnSpPr>
          <p:cNvPr id="7" name="Straight Connector 6"/>
          <p:cNvCxnSpPr>
            <a:stCxn id="6" idx="0"/>
          </p:cNvCxnSpPr>
          <p:nvPr/>
        </p:nvCxnSpPr>
        <p:spPr>
          <a:xfrm flipH="1">
            <a:off x="3812540" y="3528695"/>
            <a:ext cx="10160" cy="2863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Rectangles 7"/>
          <p:cNvSpPr/>
          <p:nvPr/>
        </p:nvSpPr>
        <p:spPr>
          <a:xfrm>
            <a:off x="5397500" y="3556000"/>
            <a:ext cx="822960" cy="2133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5374640" y="3529330"/>
            <a:ext cx="845820" cy="285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>
                <a:solidFill>
                  <a:schemeClr val="tx1">
                    <a:lumMod val="75000"/>
                    <a:lumOff val="25000"/>
                  </a:schemeClr>
                </a:solidFill>
              </a:rPr>
              <a:t>Claims</a:t>
            </a:r>
            <a:endParaRPr lang="en-I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377826" y="188913"/>
            <a:ext cx="6756220" cy="633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000"/>
            </a:pPr>
            <a:r>
              <a:rPr lang="en-GB" sz="4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Work flow</a:t>
            </a:r>
            <a:endParaRPr lang="en-GB" sz="4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898989"/>
              </a:buClr>
              <a:buSzPts val="900"/>
            </a:pPr>
            <a:r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School of Computer Science and Engineering</a:t>
            </a:r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8610600" y="633876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900"/>
            </a:pPr>
            <a:fld id="{00000000-1234-1234-1234-123412341234}" type="slidenum"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8" name="Google Shape;168;p28"/>
          <p:cNvCxnSpPr/>
          <p:nvPr/>
        </p:nvCxnSpPr>
        <p:spPr>
          <a:xfrm>
            <a:off x="85726" y="884238"/>
            <a:ext cx="11993700" cy="2070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9" name="Google Shape;169;p28" descr="kle tech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104312" y="74612"/>
            <a:ext cx="2895600" cy="71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r>
              <a:rPr lang="en-GB"/>
              <a:t>School of Computer Science and Engineering</a:t>
            </a:r>
            <a:endParaRPr lang="en-GB"/>
          </a:p>
        </p:txBody>
      </p:sp>
      <p:sp>
        <p:nvSpPr>
          <p:cNvPr id="176" name="Google Shape;176;p2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900"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Google Shape;145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fld id="{EAE9EE18-D50E-4D16-98DE-5D13E52CE654}" type="datetime1">
              <a:rPr lang="en-IN" smtClean="0"/>
            </a:fld>
            <a:endParaRPr lang="en-GB"/>
          </a:p>
        </p:txBody>
      </p:sp>
      <p:sp>
        <p:nvSpPr>
          <p:cNvPr id="5" name="Content Placeholder 2"/>
          <p:cNvSpPr txBox="1"/>
          <p:nvPr/>
        </p:nvSpPr>
        <p:spPr>
          <a:xfrm>
            <a:off x="377826" y="987302"/>
            <a:ext cx="5005057" cy="512123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sz="1800" b="1"/>
              <a:t>1. </a:t>
            </a:r>
            <a:r>
              <a:rPr lang="en-IN" sz="1800" b="1">
                <a:ea typeface="+mn-lt"/>
                <a:cs typeface="+mn-lt"/>
              </a:rPr>
              <a:t>Input:</a:t>
            </a:r>
            <a:endParaRPr lang="en-IN" sz="1800" b="1"/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A topic provided by the user (e.g., </a:t>
            </a:r>
            <a:r>
              <a:rPr lang="en-US" sz="1800" i="1">
                <a:ea typeface="+mn-lt"/>
                <a:cs typeface="+mn-lt"/>
              </a:rPr>
              <a:t>“Latest AI regulations in the EU”</a:t>
            </a:r>
            <a:r>
              <a:rPr lang="en-US" sz="1800">
                <a:ea typeface="+mn-lt"/>
                <a:cs typeface="+mn-lt"/>
              </a:rPr>
              <a:t>).</a:t>
            </a:r>
            <a:r>
              <a:rPr lang="en-US" sz="1800"/>
              <a:t> </a:t>
            </a:r>
            <a:br>
              <a:rPr lang="en-IN" sz="1800"/>
            </a:br>
            <a:endParaRPr lang="en-IN" sz="1800">
              <a:ea typeface="Calibri" panose="020F0502020204030204"/>
              <a:cs typeface="Calibri" panose="020F0502020204030204"/>
            </a:endParaRPr>
          </a:p>
          <a:p>
            <a:pPr marL="0" indent="0" algn="just">
              <a:buNone/>
            </a:pPr>
            <a:r>
              <a:rPr lang="en-IN" sz="1800" b="1"/>
              <a:t>2.</a:t>
            </a:r>
            <a:r>
              <a:rPr lang="en-IN" sz="1800" b="1">
                <a:ea typeface="+mn-lt"/>
                <a:cs typeface="+mn-lt"/>
              </a:rPr>
              <a:t>Research Agent</a:t>
            </a:r>
            <a:endParaRPr lang="en-IN" sz="18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1800">
                <a:ea typeface="+mn-lt"/>
                <a:cs typeface="+mn-lt"/>
              </a:rPr>
              <a:t>Retrieves the top-K most relevant and recent documents or web articles related to the topic using </a:t>
            </a:r>
            <a:r>
              <a:rPr lang="en-IN" sz="1800" err="1">
                <a:ea typeface="+mn-lt"/>
                <a:cs typeface="+mn-lt"/>
              </a:rPr>
              <a:t>Tavily</a:t>
            </a:r>
            <a:r>
              <a:rPr lang="en-IN" sz="1800">
                <a:ea typeface="+mn-lt"/>
                <a:cs typeface="+mn-lt"/>
              </a:rPr>
              <a:t> API and </a:t>
            </a:r>
            <a:r>
              <a:rPr lang="en-IN" sz="1800" err="1">
                <a:ea typeface="+mn-lt"/>
                <a:cs typeface="+mn-lt"/>
              </a:rPr>
              <a:t>LangChain</a:t>
            </a:r>
            <a:r>
              <a:rPr lang="en-IN" sz="1800">
                <a:ea typeface="+mn-lt"/>
                <a:cs typeface="+mn-lt"/>
              </a:rPr>
              <a:t> retrievers.</a:t>
            </a:r>
            <a:br>
              <a:rPr lang="en-IN" sz="1800"/>
            </a:br>
            <a:endParaRPr lang="en-IN" sz="1800">
              <a:ea typeface="Calibri" panose="020F0502020204030204"/>
              <a:cs typeface="Calibri" panose="020F0502020204030204"/>
            </a:endParaRPr>
          </a:p>
          <a:p>
            <a:pPr marL="0" indent="0" algn="just">
              <a:buNone/>
            </a:pPr>
            <a:r>
              <a:rPr lang="en-IN" sz="1800" b="1"/>
              <a:t>3.</a:t>
            </a:r>
            <a:r>
              <a:rPr lang="en-IN" sz="1800" b="1">
                <a:ea typeface="+mn-lt"/>
                <a:cs typeface="+mn-lt"/>
              </a:rPr>
              <a:t>Claim Extraction (LLM-based)</a:t>
            </a:r>
            <a:endParaRPr lang="en-IN" sz="18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Processes the gathered documents and extracts concise factual statements or key claims using the Gemini LLM.</a:t>
            </a:r>
            <a:endParaRPr lang="en-US">
              <a:ea typeface="+mn-lt"/>
              <a:cs typeface="+mn-lt"/>
            </a:endParaRPr>
          </a:p>
        </p:txBody>
      </p:sp>
      <p:sp>
        <p:nvSpPr>
          <p:cNvPr id="2" name="Content Placeholder 2"/>
          <p:cNvSpPr txBox="1"/>
          <p:nvPr/>
        </p:nvSpPr>
        <p:spPr>
          <a:xfrm>
            <a:off x="6096000" y="1152391"/>
            <a:ext cx="5005057" cy="5121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IN" sz="1800" b="1"/>
              <a:t>4. </a:t>
            </a:r>
            <a:r>
              <a:rPr lang="en-IN" sz="1800" b="1">
                <a:ea typeface="+mn-lt"/>
                <a:cs typeface="+mn-lt"/>
              </a:rPr>
              <a:t>Fact-Checking Agent</a:t>
            </a:r>
            <a:endParaRPr lang="en-IN" sz="18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Verifies each extracted claim against the stored or retrieved evidence from </a:t>
            </a:r>
            <a:r>
              <a:rPr lang="en-US" sz="1800" err="1">
                <a:ea typeface="+mn-lt"/>
                <a:cs typeface="+mn-lt"/>
              </a:rPr>
              <a:t>ChromaDB</a:t>
            </a:r>
            <a:r>
              <a:rPr lang="en-US" sz="1800">
                <a:ea typeface="+mn-lt"/>
                <a:cs typeface="+mn-lt"/>
              </a:rPr>
              <a:t> to ensure accuracy and reliability.</a:t>
            </a:r>
            <a:endParaRPr lang="en-IN"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en-IN" sz="1800" b="1"/>
              <a:t>5. </a:t>
            </a:r>
            <a:r>
              <a:rPr lang="en-IN" sz="1800" b="1">
                <a:ea typeface="+mn-lt"/>
                <a:cs typeface="+mn-lt"/>
              </a:rPr>
              <a:t>Writing Agent</a:t>
            </a:r>
            <a:endParaRPr lang="en-IN" sz="18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Generates a coherent and structured news article based only on the verified claims, maintaining factual integrity and readability.</a:t>
            </a:r>
            <a:endParaRPr lang="en-IN">
              <a:ea typeface="+mn-lt"/>
              <a:cs typeface="+mn-lt"/>
            </a:endParaRPr>
          </a:p>
          <a:p>
            <a:pPr marL="0" indent="0">
              <a:buNone/>
            </a:pPr>
            <a:endParaRPr lang="en-US" sz="1800"/>
          </a:p>
          <a:p>
            <a:pPr marL="0" indent="0" algn="just">
              <a:buNone/>
            </a:pPr>
            <a:r>
              <a:rPr lang="en-IN" sz="1800" b="1"/>
              <a:t>6.</a:t>
            </a:r>
            <a:r>
              <a:rPr lang="en-IN" sz="1800" b="1">
                <a:ea typeface="+mn-lt"/>
                <a:cs typeface="+mn-lt"/>
              </a:rPr>
              <a:t>Social Agent</a:t>
            </a:r>
            <a:endParaRPr lang="en-IN" sz="18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Summarizes the article into short, catchy snippets suitable for social media posts or headlines.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 sz="180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377826" y="188913"/>
            <a:ext cx="6756220" cy="633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000"/>
            </a:pPr>
            <a:r>
              <a:rPr lang="en-GB" sz="4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Work flow</a:t>
            </a:r>
            <a:endParaRPr lang="en-GB" sz="4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898989"/>
              </a:buClr>
              <a:buSzPts val="900"/>
            </a:pPr>
            <a:r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School of Computer Science and Engineering</a:t>
            </a:r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8610600" y="633876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900"/>
            </a:pPr>
            <a:fld id="{00000000-1234-1234-1234-123412341234}" type="slidenum"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8" name="Google Shape;168;p28"/>
          <p:cNvCxnSpPr/>
          <p:nvPr/>
        </p:nvCxnSpPr>
        <p:spPr>
          <a:xfrm>
            <a:off x="85726" y="884238"/>
            <a:ext cx="11993700" cy="2070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9" name="Google Shape;169;p28" descr="kle tech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104312" y="74612"/>
            <a:ext cx="2895600" cy="71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r>
              <a:rPr lang="en-GB"/>
              <a:t>School of Computer Science and Engineering</a:t>
            </a:r>
            <a:endParaRPr lang="en-GB"/>
          </a:p>
        </p:txBody>
      </p:sp>
      <p:sp>
        <p:nvSpPr>
          <p:cNvPr id="176" name="Google Shape;176;p2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900"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Google Shape;145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fld id="{EAE9EE18-D50E-4D16-98DE-5D13E52CE654}" type="datetime1">
              <a:rPr lang="en-IN" smtClean="0"/>
            </a:fld>
            <a:endParaRPr lang="en-GB"/>
          </a:p>
        </p:txBody>
      </p:sp>
      <p:sp>
        <p:nvSpPr>
          <p:cNvPr id="5" name="Content Placeholder 2"/>
          <p:cNvSpPr txBox="1"/>
          <p:nvPr/>
        </p:nvSpPr>
        <p:spPr>
          <a:xfrm>
            <a:off x="377826" y="965216"/>
            <a:ext cx="10824970" cy="5143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/>
              <a:t>7. </a:t>
            </a:r>
            <a:r>
              <a:rPr lang="en-US" sz="1800" b="1">
                <a:ea typeface="+mn-lt"/>
                <a:cs typeface="+mn-lt"/>
              </a:rPr>
              <a:t>Publish Agent</a:t>
            </a:r>
            <a:endParaRPr lang="en-US" sz="18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IN" sz="1800">
                <a:ea typeface="+mn-lt"/>
                <a:cs typeface="+mn-lt"/>
              </a:rPr>
              <a:t>Formats and saves the final verified article in Markdown (.md) format for easy publishing or website integration.</a:t>
            </a:r>
            <a:endParaRPr lang="en-IN">
              <a:ea typeface="+mn-lt"/>
              <a:cs typeface="+mn-lt"/>
            </a:endParaRPr>
          </a:p>
          <a:p>
            <a:pPr marL="0" indent="0">
              <a:buNone/>
            </a:pPr>
            <a:endParaRPr lang="en-IN" sz="1800"/>
          </a:p>
          <a:p>
            <a:pPr marL="0" indent="0" algn="just">
              <a:buNone/>
            </a:pPr>
            <a:r>
              <a:rPr lang="en-IN" sz="1800" b="1"/>
              <a:t>8. </a:t>
            </a:r>
            <a:r>
              <a:rPr lang="en-IN" sz="1800" b="1">
                <a:ea typeface="+mn-lt"/>
                <a:cs typeface="+mn-lt"/>
              </a:rPr>
              <a:t>Translation Agent</a:t>
            </a:r>
            <a:endParaRPr lang="en-IN" sz="18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Translates the article into a target language using Hugging Face translation models (as a fallback).</a:t>
            </a:r>
            <a:r>
              <a:rPr lang="en-US" sz="1800"/>
              <a:t> </a:t>
            </a:r>
            <a:br>
              <a:rPr lang="en-IN" sz="1800"/>
            </a:br>
            <a:endParaRPr lang="en-IN" sz="1800">
              <a:ea typeface="Calibri" panose="020F0502020204030204"/>
              <a:cs typeface="Calibri" panose="020F0502020204030204"/>
            </a:endParaRPr>
          </a:p>
          <a:p>
            <a:pPr marL="0" indent="0" algn="just">
              <a:buNone/>
            </a:pPr>
            <a:r>
              <a:rPr lang="en-IN" sz="1800" b="1"/>
              <a:t>9. </a:t>
            </a:r>
            <a:r>
              <a:rPr lang="en-IN" sz="1800" b="1">
                <a:ea typeface="+mn-lt"/>
                <a:cs typeface="+mn-lt"/>
              </a:rPr>
              <a:t>Output:</a:t>
            </a:r>
            <a:endParaRPr lang="en-IN" sz="1800" b="1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A fact-verified, well-written news article with accompanying social media post summaries, ready for publication.</a:t>
            </a:r>
            <a:endParaRPr lang="en-US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377826" y="188913"/>
            <a:ext cx="6756220" cy="633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GB" sz="4000" b="1">
                <a:solidFill>
                  <a:schemeClr val="dk1"/>
                </a:solidFill>
                <a:ea typeface="+mj-lt"/>
                <a:cs typeface="+mj-lt"/>
              </a:rPr>
              <a:t>Implementation Details</a:t>
            </a:r>
            <a:r>
              <a:rPr lang="en-GB" sz="4000">
                <a:solidFill>
                  <a:schemeClr val="dk1"/>
                </a:solidFill>
                <a:ea typeface="+mj-lt"/>
                <a:cs typeface="+mj-lt"/>
              </a:rPr>
              <a:t> </a:t>
            </a:r>
            <a:endParaRPr lang="en-US"/>
          </a:p>
        </p:txBody>
      </p:sp>
      <p:sp>
        <p:nvSpPr>
          <p:cNvPr id="166" name="Google Shape;166;p28"/>
          <p:cNvSpPr txBox="1"/>
          <p:nvPr/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898989"/>
              </a:buClr>
              <a:buSzPts val="900"/>
            </a:pPr>
            <a:r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School of Computer Science and Engineering</a:t>
            </a:r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8610600" y="633876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900"/>
            </a:pPr>
            <a:fld id="{00000000-1234-1234-1234-123412341234}" type="slidenum"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8" name="Google Shape;168;p28"/>
          <p:cNvCxnSpPr/>
          <p:nvPr/>
        </p:nvCxnSpPr>
        <p:spPr>
          <a:xfrm>
            <a:off x="85726" y="884238"/>
            <a:ext cx="11993700" cy="2070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9" name="Google Shape;169;p28" descr="kle tech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104312" y="74612"/>
            <a:ext cx="2895600" cy="71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r>
              <a:rPr lang="en-GB"/>
              <a:t>School of Computer Science and Engineering</a:t>
            </a:r>
            <a:endParaRPr lang="en-GB"/>
          </a:p>
        </p:txBody>
      </p:sp>
      <p:sp>
        <p:nvSpPr>
          <p:cNvPr id="176" name="Google Shape;176;p2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900"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Google Shape;145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fld id="{EAE9EE18-D50E-4D16-98DE-5D13E52CE654}" type="datetime1">
              <a:rPr lang="en-IN" smtClean="0"/>
            </a:fld>
            <a:endParaRPr lang="en-GB"/>
          </a:p>
        </p:txBody>
      </p:sp>
      <p:sp>
        <p:nvSpPr>
          <p:cNvPr id="5" name="Content Placeholder 2"/>
          <p:cNvSpPr txBox="1"/>
          <p:nvPr/>
        </p:nvSpPr>
        <p:spPr>
          <a:xfrm>
            <a:off x="377826" y="965216"/>
            <a:ext cx="10824970" cy="5143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err="1">
                <a:ea typeface="+mn-lt"/>
                <a:cs typeface="+mn-lt"/>
              </a:rPr>
              <a:t>NewsForge</a:t>
            </a:r>
            <a:r>
              <a:rPr lang="en-US" sz="1800">
                <a:ea typeface="+mn-lt"/>
                <a:cs typeface="+mn-lt"/>
              </a:rPr>
              <a:t> automates the end-to-end news creation pipeline using multiple AI agents coordinated via </a:t>
            </a:r>
            <a:r>
              <a:rPr lang="en-US" sz="1800" err="1">
                <a:ea typeface="+mn-lt"/>
                <a:cs typeface="+mn-lt"/>
              </a:rPr>
              <a:t>FastAPI</a:t>
            </a:r>
            <a:r>
              <a:rPr lang="en-US" sz="1800">
                <a:ea typeface="+mn-lt"/>
                <a:cs typeface="+mn-lt"/>
              </a:rPr>
              <a:t> and </a:t>
            </a:r>
            <a:r>
              <a:rPr lang="en-US" sz="1800" err="1">
                <a:ea typeface="+mn-lt"/>
                <a:cs typeface="+mn-lt"/>
              </a:rPr>
              <a:t>LangChain</a:t>
            </a:r>
            <a:r>
              <a:rPr lang="en-US" sz="1800">
                <a:ea typeface="+mn-lt"/>
                <a:cs typeface="+mn-lt"/>
              </a:rPr>
              <a:t>.</a:t>
            </a:r>
            <a:endParaRPr lang="en-US" sz="1800">
              <a:ea typeface="+mn-lt"/>
              <a:cs typeface="+mn-lt"/>
            </a:endParaRPr>
          </a:p>
          <a:p>
            <a:pPr marL="0" indent="0">
              <a:buNone/>
            </a:pPr>
            <a:endParaRPr lang="en-US" sz="1800"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8348" y="1718807"/>
          <a:ext cx="12192000" cy="4480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000"/>
                <a:gridCol w="4064000"/>
                <a:gridCol w="4064000"/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Layer</a:t>
                      </a:r>
                      <a:endParaRPr lang="en-US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Technology</a:t>
                      </a:r>
                      <a:endParaRPr lang="en-US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Purpose</a:t>
                      </a:r>
                      <a:endParaRPr lang="en-US" b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Frontend</a:t>
                      </a:r>
                      <a:endParaRPr lang="en-US" b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HTML, CSS, JavaScript</a:t>
                      </a:r>
                      <a:endParaRPr lang="en-US" b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 interface to enter topics &amp; view generated articles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Backend</a:t>
                      </a:r>
                      <a:endParaRPr lang="en-US" b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Python, </a:t>
                      </a:r>
                      <a:r>
                        <a:rPr lang="en-US" b="0" err="1"/>
                        <a:t>FastAPI</a:t>
                      </a:r>
                      <a:r>
                        <a:rPr lang="en-US" b="0"/>
                        <a:t>, </a:t>
                      </a:r>
                      <a:r>
                        <a:rPr lang="en-US" b="0" err="1"/>
                        <a:t>Uvicorn</a:t>
                      </a:r>
                      <a:endParaRPr lang="en-US" b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REST API for agent communication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Orchestration</a:t>
                      </a:r>
                      <a:endParaRPr lang="en-US" b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err="1"/>
                        <a:t>LangChain</a:t>
                      </a:r>
                      <a:r>
                        <a:rPr lang="en-US" b="0"/>
                        <a:t> / </a:t>
                      </a:r>
                      <a:r>
                        <a:rPr lang="en-US" b="0" err="1"/>
                        <a:t>LangGraph</a:t>
                      </a:r>
                      <a:endParaRPr lang="en-US" b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Multi-agent workflow coordination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LLM Backend</a:t>
                      </a:r>
                      <a:endParaRPr lang="en-US" b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Gemini API (Pro &amp; Embedding)</a:t>
                      </a:r>
                      <a:endParaRPr lang="en-US" b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Text generation, summarization, embeddings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Vector Store</a:t>
                      </a:r>
                      <a:endParaRPr lang="en-US" b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err="1"/>
                        <a:t>ChromaDB</a:t>
                      </a:r>
                      <a:endParaRPr lang="en-US" b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Evidence storage &amp; retrieval for fact-checking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Web Research</a:t>
                      </a:r>
                      <a:endParaRPr lang="en-US" b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err="1"/>
                        <a:t>Tavily</a:t>
                      </a:r>
                      <a:r>
                        <a:rPr lang="en-US" b="0"/>
                        <a:t> API, RSS</a:t>
                      </a:r>
                      <a:endParaRPr lang="en-US" b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Fetch factual content from the web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Translation Fallback</a:t>
                      </a:r>
                      <a:endParaRPr lang="en-US" b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Hugging Face API</a:t>
                      </a:r>
                      <a:endParaRPr lang="en-US" b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Multi-language article support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Environment Config</a:t>
                      </a:r>
                      <a:endParaRPr lang="en-US" b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>
                          <a:latin typeface="Courier New" panose="02070309020205020404"/>
                        </a:rPr>
                        <a:t>.env</a:t>
                      </a:r>
                      <a:r>
                        <a:rPr lang="en-US" b="0"/>
                        <a:t>, python-</a:t>
                      </a:r>
                      <a:r>
                        <a:rPr lang="en-US" b="0" err="1"/>
                        <a:t>dotenv</a:t>
                      </a:r>
                      <a:endParaRPr lang="en-US" b="0" err="1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Secure key management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/>
                        <a:t>Testing Tools</a:t>
                      </a:r>
                      <a:endParaRPr lang="en-US" b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0" err="1"/>
                        <a:t>pytest</a:t>
                      </a:r>
                      <a:r>
                        <a:rPr lang="en-US" b="0"/>
                        <a:t>, diagnose_imports.py</a:t>
                      </a:r>
                      <a:endParaRPr lang="en-US" b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Validation &amp; import diagnostics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7" name="Straight Arrow Connector 6"/>
          <p:cNvCxnSpPr/>
          <p:nvPr/>
        </p:nvCxnSpPr>
        <p:spPr>
          <a:xfrm>
            <a:off x="2910942" y="1714499"/>
            <a:ext cx="81642" cy="4490357"/>
          </a:xfrm>
          <a:prstGeom prst="straightConnector1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7803203" y="1714499"/>
            <a:ext cx="81642" cy="4490357"/>
          </a:xfrm>
          <a:prstGeom prst="straightConnector1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V="1">
            <a:off x="119900" y="6203279"/>
            <a:ext cx="11686958" cy="1400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86769" y="1708583"/>
            <a:ext cx="11686958" cy="1400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V="1">
            <a:off x="86769" y="2150322"/>
            <a:ext cx="11686958" cy="14001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108856" y="1728107"/>
            <a:ext cx="13607" cy="450396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11770769" y="1728107"/>
            <a:ext cx="13607" cy="4503964"/>
          </a:xfrm>
          <a:prstGeom prst="straightConnector1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377826" y="188913"/>
            <a:ext cx="6756220" cy="633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SzPts val="3000"/>
            </a:pPr>
            <a:r>
              <a:rPr lang="en-GB" sz="4000" b="1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Results</a:t>
            </a:r>
            <a:endParaRPr lang="en-GB" sz="4000" b="1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898989"/>
              </a:buClr>
              <a:buSzPts val="900"/>
            </a:pPr>
            <a:r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School of Computer Science and Engineering</a:t>
            </a:r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900"/>
            </a:pPr>
            <a:fld id="{00000000-1234-1234-1234-123412341234}" type="slidenum"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8" name="Google Shape;168;p28"/>
          <p:cNvCxnSpPr/>
          <p:nvPr/>
        </p:nvCxnSpPr>
        <p:spPr>
          <a:xfrm>
            <a:off x="85726" y="884238"/>
            <a:ext cx="11993700" cy="2070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9" name="Google Shape;169;p28" descr="kle tech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104312" y="74612"/>
            <a:ext cx="2895600" cy="71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r>
              <a:rPr lang="en-GB"/>
              <a:t>School of Computer Science and Engineering</a:t>
            </a:r>
            <a:endParaRPr lang="en-GB"/>
          </a:p>
        </p:txBody>
      </p:sp>
      <p:sp>
        <p:nvSpPr>
          <p:cNvPr id="176" name="Google Shape;176;p2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900"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Google Shape;145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fld id="{1A762179-2153-47A2-8608-86A4CA860BA0}" type="datetime1">
              <a:rPr lang="en-IN" smtClean="0"/>
            </a:fld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381001" y="1198315"/>
            <a:ext cx="10647405" cy="25844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Observed Results Successfully generated complete, coherent news articles for various topics.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Articles included evidence sources, provenance links, and social media snippets.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Frontend progress tracker accurately displayed each pipeline stage (Research → </a:t>
            </a:r>
            <a:r>
              <a:rPr lang="en-US" dirty="0" err="1"/>
              <a:t>FactCheck</a:t>
            </a:r>
            <a:r>
              <a:rPr lang="en-US" dirty="0"/>
              <a:t> → Writing → Publish).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Mock mode allowed system testing without live API calls.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FastAPI</a:t>
            </a:r>
            <a:r>
              <a:rPr lang="en-US" dirty="0"/>
              <a:t> server ran locally and responded successfully on http://127.0.0.1:8000.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377826" y="188913"/>
            <a:ext cx="6756220" cy="633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SzPts val="3000"/>
            </a:pPr>
            <a:r>
              <a:rPr lang="en-GB" sz="40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Results</a:t>
            </a:r>
            <a:endParaRPr lang="en-GB" sz="40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898989"/>
              </a:buClr>
              <a:buSzPts val="900"/>
            </a:pPr>
            <a:r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School of Computer Science and Engineering</a:t>
            </a:r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900"/>
            </a:pPr>
            <a:fld id="{00000000-1234-1234-1234-123412341234}" type="slidenum"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8" name="Google Shape;168;p28"/>
          <p:cNvCxnSpPr/>
          <p:nvPr/>
        </p:nvCxnSpPr>
        <p:spPr>
          <a:xfrm>
            <a:off x="85726" y="884238"/>
            <a:ext cx="11993700" cy="2070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9" name="Google Shape;169;p28" descr="kle tech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104312" y="74612"/>
            <a:ext cx="2895600" cy="71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r>
              <a:rPr lang="en-GB"/>
              <a:t>School of Computer Science and Engineering</a:t>
            </a:r>
            <a:endParaRPr lang="en-GB"/>
          </a:p>
        </p:txBody>
      </p:sp>
      <p:sp>
        <p:nvSpPr>
          <p:cNvPr id="176" name="Google Shape;176;p2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900"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Google Shape;145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fld id="{1A762179-2153-47A2-8608-86A4CA860BA0}" type="datetime1">
              <a:rPr lang="en-IN" smtClean="0"/>
            </a:fld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381001" y="957650"/>
            <a:ext cx="106474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826" y="1077797"/>
            <a:ext cx="8492683" cy="52785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377826" y="188913"/>
            <a:ext cx="6756220" cy="633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SzPts val="3000"/>
            </a:pPr>
            <a:r>
              <a:rPr lang="en-GB" sz="40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rPr>
              <a:t>Results</a:t>
            </a:r>
            <a:endParaRPr lang="en-GB" sz="4000" b="1" dirty="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898989"/>
              </a:buClr>
              <a:buSzPts val="900"/>
            </a:pPr>
            <a:r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School of Computer Science and Engineering</a:t>
            </a:r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900"/>
            </a:pPr>
            <a:fld id="{00000000-1234-1234-1234-123412341234}" type="slidenum"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8" name="Google Shape;168;p28"/>
          <p:cNvCxnSpPr/>
          <p:nvPr/>
        </p:nvCxnSpPr>
        <p:spPr>
          <a:xfrm>
            <a:off x="85726" y="884238"/>
            <a:ext cx="11993700" cy="2070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9" name="Google Shape;169;p28" descr="kle tech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104312" y="74612"/>
            <a:ext cx="2895600" cy="71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r>
              <a:rPr lang="en-GB"/>
              <a:t>School of Computer Science and Engineering</a:t>
            </a:r>
            <a:endParaRPr lang="en-GB"/>
          </a:p>
        </p:txBody>
      </p:sp>
      <p:sp>
        <p:nvSpPr>
          <p:cNvPr id="176" name="Google Shape;176;p2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900"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Google Shape;145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fld id="{1A762179-2153-47A2-8608-86A4CA860BA0}" type="datetime1">
              <a:rPr lang="en-IN" smtClean="0"/>
            </a:fld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381001" y="957650"/>
            <a:ext cx="106474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18" y="1246053"/>
            <a:ext cx="8799343" cy="50040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377826" y="188913"/>
            <a:ext cx="6756220" cy="6333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spcBef>
                <a:spcPts val="0"/>
              </a:spcBef>
              <a:buClr>
                <a:schemeClr val="dk1"/>
              </a:buClr>
              <a:buSzPts val="3000"/>
            </a:pPr>
            <a:r>
              <a:rPr lang="en-GB" sz="40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Conclusion</a:t>
            </a:r>
            <a:endParaRPr lang="en-GB" dirty="0"/>
          </a:p>
        </p:txBody>
      </p:sp>
      <p:sp>
        <p:nvSpPr>
          <p:cNvPr id="166" name="Google Shape;166;p28"/>
          <p:cNvSpPr txBox="1"/>
          <p:nvPr/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898989"/>
              </a:buClr>
              <a:buSzPts val="900"/>
            </a:pPr>
            <a:r>
              <a:rPr lang="en-GB" sz="1200" dirty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School of Computer Science and Engineering</a:t>
            </a:r>
            <a:endParaRPr sz="1465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900"/>
            </a:pPr>
            <a:fld id="{00000000-1234-1234-1234-123412341234}" type="slidenum"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168" name="Google Shape;168;p28"/>
          <p:cNvCxnSpPr/>
          <p:nvPr/>
        </p:nvCxnSpPr>
        <p:spPr>
          <a:xfrm>
            <a:off x="85726" y="884238"/>
            <a:ext cx="11993700" cy="2070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69" name="Google Shape;169;p28" descr="kle tech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104312" y="74612"/>
            <a:ext cx="2895600" cy="71596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r>
              <a:rPr lang="en-GB" dirty="0"/>
              <a:t>School of Computer Science and Engineering</a:t>
            </a:r>
            <a:endParaRPr dirty="0"/>
          </a:p>
        </p:txBody>
      </p:sp>
      <p:sp>
        <p:nvSpPr>
          <p:cNvPr id="176" name="Google Shape;176;p2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900"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" name="Google Shape;145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fld id="{E60F9F1E-25EB-4902-A902-89652EE3D038}" type="datetime1">
              <a:rPr lang="en-IN" smtClean="0"/>
            </a:fld>
            <a:endParaRPr lang="en-GB"/>
          </a:p>
        </p:txBody>
      </p:sp>
      <p:sp>
        <p:nvSpPr>
          <p:cNvPr id="5" name="Content Placeholder 2"/>
          <p:cNvSpPr txBox="1"/>
          <p:nvPr/>
        </p:nvSpPr>
        <p:spPr>
          <a:xfrm>
            <a:off x="474453" y="1233577"/>
            <a:ext cx="11187321" cy="45662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endParaRPr lang="en-US" altLang="en-US" sz="18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4454" y="1233552"/>
            <a:ext cx="11102196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project demonstrates the practical application of agentic AI and multi-agent orchestration for automated journalism.</a:t>
            </a:r>
            <a:br>
              <a:rPr lang="en-US" dirty="0"/>
            </a:br>
            <a:r>
              <a:rPr lang="en-US" dirty="0"/>
              <a:t>It shows how LLMs, combined with retrieval-augmented reasoning and autonomous collaboration, can create reliable, fact-checked content efficiently. </a:t>
            </a:r>
            <a:endParaRPr lang="en-US" dirty="0"/>
          </a:p>
          <a:p>
            <a:r>
              <a:rPr lang="en-US" dirty="0"/>
              <a:t>Future enhancements may include: Human-in-the-loop review for quality assurance Real-time data integration Continuous learning from feedback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5"/>
          <p:cNvSpPr txBox="1"/>
          <p:nvPr/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>
              <a:buClr>
                <a:srgbClr val="898989"/>
              </a:buClr>
              <a:buSzPts val="900"/>
            </a:pPr>
            <a:r>
              <a:rPr lang="en-GB" sz="1200" dirty="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School of Computer Science and Engineering</a:t>
            </a:r>
            <a:endParaRPr sz="1465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63" name="Google Shape;463;p45"/>
          <p:cNvSpPr txBox="1"/>
          <p:nvPr/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r">
              <a:buClr>
                <a:srgbClr val="898989"/>
              </a:buClr>
              <a:buSzPts val="900"/>
            </a:pPr>
            <a:fld id="{00000000-1234-1234-1234-123412341234}" type="slidenum">
              <a:rPr lang="en-GB" sz="1200">
                <a:solidFill>
                  <a:srgbClr val="898989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465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cxnSp>
        <p:nvCxnSpPr>
          <p:cNvPr id="464" name="Google Shape;464;p45"/>
          <p:cNvCxnSpPr/>
          <p:nvPr/>
        </p:nvCxnSpPr>
        <p:spPr>
          <a:xfrm>
            <a:off x="85725" y="884237"/>
            <a:ext cx="11993600" cy="20800"/>
          </a:xfrm>
          <a:prstGeom prst="straightConnector1">
            <a:avLst/>
          </a:prstGeom>
          <a:noFill/>
          <a:ln w="9525" cap="flat" cmpd="sng">
            <a:solidFill>
              <a:srgbClr val="E4948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465" name="Google Shape;465;p45" descr="kle tech logo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9104312" y="74613"/>
            <a:ext cx="2895600" cy="715961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5"/>
          <p:cNvSpPr txBox="1"/>
          <p:nvPr/>
        </p:nvSpPr>
        <p:spPr>
          <a:xfrm>
            <a:off x="2102500" y="6236976"/>
            <a:ext cx="7700000" cy="615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91433" rIns="91433" bIns="91433" anchor="t" anchorCtr="0">
            <a:spAutoFit/>
          </a:bodyPr>
          <a:lstStyle/>
          <a:p>
            <a:pPr>
              <a:buClr>
                <a:srgbClr val="000000"/>
              </a:buClr>
              <a:buSzPts val="2100"/>
            </a:pPr>
            <a:endParaRPr sz="2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467" name="Google Shape;467;p4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r>
              <a:rPr lang="en-GB" dirty="0"/>
              <a:t>School of Computer Science and Engineering</a:t>
            </a:r>
            <a:endParaRPr dirty="0"/>
          </a:p>
        </p:txBody>
      </p:sp>
      <p:sp>
        <p:nvSpPr>
          <p:cNvPr id="468" name="Google Shape;468;p4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2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900"/>
            </a:pPr>
            <a:fld id="{00000000-1234-1234-1234-123412341234}" type="slidenum">
              <a:rPr lang="en-GB"/>
            </a:fld>
            <a:endParaRPr lang="en-GB"/>
          </a:p>
        </p:txBody>
      </p:sp>
      <p:sp>
        <p:nvSpPr>
          <p:cNvPr id="470" name="Google Shape;470;p45"/>
          <p:cNvSpPr txBox="1"/>
          <p:nvPr/>
        </p:nvSpPr>
        <p:spPr>
          <a:xfrm>
            <a:off x="4781341" y="2957500"/>
            <a:ext cx="4520000" cy="6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3000"/>
            </a:pPr>
            <a:r>
              <a:rPr lang="en-GB" sz="4000" b="1" dirty="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Thank You</a:t>
            </a:r>
            <a:endParaRPr sz="1465" dirty="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Google Shape;145;p2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33" tIns="45700" rIns="91433" bIns="45700" rtlCol="0" anchor="ctr" anchorCtr="0">
            <a:noAutofit/>
          </a:bodyPr>
          <a:lstStyle/>
          <a:p>
            <a:pPr>
              <a:buSzPts val="1100"/>
            </a:pPr>
            <a:fld id="{27003FF0-5292-406A-9078-3C9D8F86FC2C}" type="datetime1">
              <a:rPr lang="en-IN" smtClean="0"/>
            </a:fld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2102500" y="4450035"/>
            <a:ext cx="8288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>
                <a:hlinkClick r:id="rId2"/>
              </a:rPr>
              <a:t>Click here for the portfolio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7587</Words>
  <Application>WPS Presentation</Application>
  <PresentationFormat>Widescreen</PresentationFormat>
  <Paragraphs>408</Paragraphs>
  <Slides>17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SimSun</vt:lpstr>
      <vt:lpstr>Wingdings</vt:lpstr>
      <vt:lpstr>Calibri Light</vt:lpstr>
      <vt:lpstr>Calibri</vt:lpstr>
      <vt:lpstr>Arial</vt:lpstr>
      <vt:lpstr>Courier New</vt:lpstr>
      <vt:lpstr>Microsoft YaHei</vt:lpstr>
      <vt:lpstr>Arial Unicode MS</vt:lpstr>
      <vt:lpstr>Office Theme</vt:lpstr>
      <vt:lpstr>1_Office Theme</vt:lpstr>
      <vt:lpstr>Multi-Agent Architecture for News Authoring Agent</vt:lpstr>
      <vt:lpstr>PowerPoint 演示文稿</vt:lpstr>
      <vt:lpstr>Problem Statement</vt:lpstr>
      <vt:lpstr>Background and Context</vt:lpstr>
      <vt:lpstr>Objectives</vt:lpstr>
      <vt:lpstr>Methodology</vt:lpstr>
      <vt:lpstr>Approach</vt:lpstr>
      <vt:lpstr>Work Flow</vt:lpstr>
      <vt:lpstr>Agent Interaction Flow</vt:lpstr>
      <vt:lpstr>Work flow</vt:lpstr>
      <vt:lpstr>Work flow</vt:lpstr>
      <vt:lpstr>Implementation Details </vt:lpstr>
      <vt:lpstr>Results</vt:lpstr>
      <vt:lpstr>Results</vt:lpstr>
      <vt:lpstr>Results</vt:lpstr>
      <vt:lpstr>Conclusion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Sanjana Kalagond</dc:creator>
  <cp:lastModifiedBy>01fe22bci013</cp:lastModifiedBy>
  <cp:revision>68</cp:revision>
  <dcterms:created xsi:type="dcterms:W3CDTF">2025-04-09T11:48:00Z</dcterms:created>
  <dcterms:modified xsi:type="dcterms:W3CDTF">2025-11-12T10:21:30Z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8F7A0D217A704EC1BFA0331F4EA00314_12</vt:lpwstr>
  </property>
  <property fmtid="{D5CDD505-2E9C-101B-9397-08002B2CF9AE}" pid="3" name="KSOProductBuildVer">
    <vt:lpwstr>1033-12.2.0.23155</vt:lpwstr>
  </property>
</Properties>
</file>